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Big Shoulders Display Bold" panose="020B0604020202020204" charset="0"/>
      <p:regular r:id="rId13"/>
    </p:embeddedFont>
    <p:embeddedFont>
      <p:font typeface="Canva Sans" panose="020B0604020202020204" charset="0"/>
      <p:regular r:id="rId14"/>
    </p:embeddedFont>
    <p:embeddedFont>
      <p:font typeface="Poppins" panose="00000500000000000000" pitchFamily="2" charset="0"/>
      <p:regular r:id="rId15"/>
    </p:embeddedFont>
    <p:embeddedFont>
      <p:font typeface="Poppins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essa Littler" userId="13486b2541b3e031" providerId="LiveId" clId="{F7C06506-5313-4DBE-8E17-B4A9351E458C}"/>
    <pc:docChg chg="undo custSel modSld">
      <pc:chgData name="Vanessa Littler" userId="13486b2541b3e031" providerId="LiveId" clId="{F7C06506-5313-4DBE-8E17-B4A9351E458C}" dt="2026-10-12T12:01:01.876" v="7" actId="732"/>
      <pc:docMkLst>
        <pc:docMk/>
      </pc:docMkLst>
      <pc:sldChg chg="modSp mod">
        <pc:chgData name="Vanessa Littler" userId="13486b2541b3e031" providerId="LiveId" clId="{F7C06506-5313-4DBE-8E17-B4A9351E458C}" dt="2026-10-12T12:01:01.876" v="7" actId="732"/>
        <pc:sldMkLst>
          <pc:docMk/>
          <pc:sldMk cId="0" sldId="256"/>
        </pc:sldMkLst>
        <pc:spChg chg="mod modCrop">
          <ac:chgData name="Vanessa Littler" userId="13486b2541b3e031" providerId="LiveId" clId="{F7C06506-5313-4DBE-8E17-B4A9351E458C}" dt="2026-10-12T12:01:01.268" v="6" actId="732"/>
          <ac:spMkLst>
            <pc:docMk/>
            <pc:sldMk cId="0" sldId="256"/>
            <ac:spMk id="4" creationId="{00000000-0000-0000-0000-000000000000}"/>
          </ac:spMkLst>
        </pc:spChg>
        <pc:spChg chg="mod modCrop">
          <ac:chgData name="Vanessa Littler" userId="13486b2541b3e031" providerId="LiveId" clId="{F7C06506-5313-4DBE-8E17-B4A9351E458C}" dt="2026-10-12T12:01:01.876" v="7" actId="732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Vanessa Littler" userId="13486b2541b3e031" providerId="LiveId" clId="{F7C06506-5313-4DBE-8E17-B4A9351E458C}" dt="2026-10-12T12:01:00.890" v="5" actId="732"/>
        <pc:sldMkLst>
          <pc:docMk/>
          <pc:sldMk cId="0" sldId="257"/>
        </pc:sldMkLst>
        <pc:spChg chg="mod modCrop">
          <ac:chgData name="Vanessa Littler" userId="13486b2541b3e031" providerId="LiveId" clId="{F7C06506-5313-4DBE-8E17-B4A9351E458C}" dt="2026-10-12T12:01:00.683" v="4" actId="732"/>
          <ac:spMkLst>
            <pc:docMk/>
            <pc:sldMk cId="0" sldId="257"/>
            <ac:spMk id="2" creationId="{00000000-0000-0000-0000-000000000000}"/>
          </ac:spMkLst>
        </pc:spChg>
        <pc:spChg chg="mod modCrop">
          <ac:chgData name="Vanessa Littler" userId="13486b2541b3e031" providerId="LiveId" clId="{F7C06506-5313-4DBE-8E17-B4A9351E458C}" dt="2026-10-12T12:01:00.890" v="5" actId="732"/>
          <ac:spMkLst>
            <pc:docMk/>
            <pc:sldMk cId="0" sldId="25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statista.com/forecasts/461273/digital-games-users-age-gender-digital-market-outlook-uk/" TargetMode="External"/><Relationship Id="rId4" Type="http://schemas.openxmlformats.org/officeDocument/2006/relationships/hyperlink" Target="https://explodingtopics.com/blog/number-of-gamer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6234">
            <a:off x="14249597" y="7258779"/>
            <a:ext cx="3820236" cy="2695003"/>
          </a:xfrm>
          <a:custGeom>
            <a:avLst/>
            <a:gdLst/>
            <a:ahLst/>
            <a:cxnLst/>
            <a:rect l="l" t="t" r="r" b="b"/>
            <a:pathLst>
              <a:path w="3820236" h="2695003">
                <a:moveTo>
                  <a:pt x="0" y="0"/>
                </a:moveTo>
                <a:lnTo>
                  <a:pt x="3820236" y="0"/>
                </a:lnTo>
                <a:lnTo>
                  <a:pt x="3820236" y="2695003"/>
                </a:lnTo>
                <a:lnTo>
                  <a:pt x="0" y="26950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1041331">
            <a:off x="314996" y="7116808"/>
            <a:ext cx="3820236" cy="2695003"/>
          </a:xfrm>
          <a:custGeom>
            <a:avLst/>
            <a:gdLst/>
            <a:ahLst/>
            <a:cxnLst/>
            <a:rect l="l" t="t" r="r" b="b"/>
            <a:pathLst>
              <a:path w="3820236" h="2695003">
                <a:moveTo>
                  <a:pt x="0" y="0"/>
                </a:moveTo>
                <a:lnTo>
                  <a:pt x="3820236" y="0"/>
                </a:lnTo>
                <a:lnTo>
                  <a:pt x="3820236" y="2695002"/>
                </a:lnTo>
                <a:lnTo>
                  <a:pt x="0" y="26950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4510730" y="-4098552"/>
            <a:ext cx="5497139" cy="5497139"/>
          </a:xfrm>
          <a:custGeom>
            <a:avLst/>
            <a:gdLst/>
            <a:ahLst/>
            <a:cxnLst/>
            <a:rect l="l" t="t" r="r" b="b"/>
            <a:pathLst>
              <a:path w="5497139" h="5497139">
                <a:moveTo>
                  <a:pt x="0" y="0"/>
                </a:moveTo>
                <a:lnTo>
                  <a:pt x="5497140" y="0"/>
                </a:lnTo>
                <a:lnTo>
                  <a:pt x="5497140" y="5497139"/>
                </a:lnTo>
                <a:lnTo>
                  <a:pt x="0" y="5497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3229405" y="2880541"/>
            <a:ext cx="11829191" cy="3488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77"/>
              </a:lnSpc>
            </a:pPr>
            <a:r>
              <a:rPr lang="en-US" sz="14806" b="1">
                <a:solidFill>
                  <a:srgbClr val="1A1F41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GROWING VIDEO GAME SALES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343308" y="6541208"/>
            <a:ext cx="5601384" cy="1076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rPr>
              <a:t>an analysis on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rPr>
              <a:t>video game sales</a:t>
            </a:r>
          </a:p>
        </p:txBody>
      </p:sp>
      <p:sp>
        <p:nvSpPr>
          <p:cNvPr id="7" name="Freeform 7"/>
          <p:cNvSpPr/>
          <p:nvPr/>
        </p:nvSpPr>
        <p:spPr>
          <a:xfrm>
            <a:off x="-1722099" y="-4098552"/>
            <a:ext cx="5497139" cy="5497139"/>
          </a:xfrm>
          <a:custGeom>
            <a:avLst/>
            <a:gdLst/>
            <a:ahLst/>
            <a:cxnLst/>
            <a:rect l="l" t="t" r="r" b="b"/>
            <a:pathLst>
              <a:path w="5497139" h="5497139">
                <a:moveTo>
                  <a:pt x="0" y="0"/>
                </a:moveTo>
                <a:lnTo>
                  <a:pt x="5497139" y="0"/>
                </a:lnTo>
                <a:lnTo>
                  <a:pt x="5497139" y="5497139"/>
                </a:lnTo>
                <a:lnTo>
                  <a:pt x="0" y="5497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08527">
            <a:off x="-159278" y="8018831"/>
            <a:ext cx="3159718" cy="2229037"/>
          </a:xfrm>
          <a:custGeom>
            <a:avLst/>
            <a:gdLst/>
            <a:ahLst/>
            <a:cxnLst/>
            <a:rect l="l" t="t" r="r" b="b"/>
            <a:pathLst>
              <a:path w="3159718" h="2229037">
                <a:moveTo>
                  <a:pt x="0" y="0"/>
                </a:moveTo>
                <a:lnTo>
                  <a:pt x="3159718" y="0"/>
                </a:lnTo>
                <a:lnTo>
                  <a:pt x="3159718" y="2229037"/>
                </a:lnTo>
                <a:lnTo>
                  <a:pt x="0" y="22290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7044792" y="-4468439"/>
            <a:ext cx="5497139" cy="5497139"/>
          </a:xfrm>
          <a:custGeom>
            <a:avLst/>
            <a:gdLst/>
            <a:ahLst/>
            <a:cxnLst/>
            <a:rect l="l" t="t" r="r" b="b"/>
            <a:pathLst>
              <a:path w="5497139" h="5497139">
                <a:moveTo>
                  <a:pt x="0" y="0"/>
                </a:moveTo>
                <a:lnTo>
                  <a:pt x="5497139" y="0"/>
                </a:lnTo>
                <a:lnTo>
                  <a:pt x="5497139" y="5497139"/>
                </a:lnTo>
                <a:lnTo>
                  <a:pt x="0" y="5497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4" name="Group 4"/>
          <p:cNvGrpSpPr/>
          <p:nvPr/>
        </p:nvGrpSpPr>
        <p:grpSpPr>
          <a:xfrm>
            <a:off x="10624485" y="3844020"/>
            <a:ext cx="3496335" cy="3385459"/>
            <a:chOff x="0" y="0"/>
            <a:chExt cx="83942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39420" cy="812800"/>
            </a:xfrm>
            <a:custGeom>
              <a:avLst/>
              <a:gdLst/>
              <a:ahLst/>
              <a:cxnLst/>
              <a:rect l="l" t="t" r="r" b="b"/>
              <a:pathLst>
                <a:path w="839420" h="812800">
                  <a:moveTo>
                    <a:pt x="419710" y="0"/>
                  </a:moveTo>
                  <a:cubicBezTo>
                    <a:pt x="187910" y="0"/>
                    <a:pt x="0" y="181951"/>
                    <a:pt x="0" y="406400"/>
                  </a:cubicBezTo>
                  <a:cubicBezTo>
                    <a:pt x="0" y="630849"/>
                    <a:pt x="187910" y="812800"/>
                    <a:pt x="419710" y="812800"/>
                  </a:cubicBezTo>
                  <a:cubicBezTo>
                    <a:pt x="651509" y="812800"/>
                    <a:pt x="839420" y="630849"/>
                    <a:pt x="839420" y="406400"/>
                  </a:cubicBezTo>
                  <a:cubicBezTo>
                    <a:pt x="839420" y="181951"/>
                    <a:pt x="651509" y="0"/>
                    <a:pt x="419710" y="0"/>
                  </a:cubicBez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8696" y="19050"/>
              <a:ext cx="682028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including</a:t>
              </a:r>
            </a:p>
            <a:p>
              <a:pPr algn="ctr">
                <a:lnSpc>
                  <a:spcPts val="7979"/>
                </a:lnSpc>
              </a:pPr>
              <a:r>
                <a:rPr lang="en-US" sz="5699" b="1">
                  <a:solidFill>
                    <a:srgbClr val="1A1F4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10.84m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gamers in</a:t>
              </a:r>
            </a:p>
            <a:p>
              <a:pPr algn="ctr">
                <a:lnSpc>
                  <a:spcPts val="2660"/>
                </a:lnSpc>
              </a:pPr>
              <a:r>
                <a:rPr lang="en-US" sz="1900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the UK alone ²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904107" y="3029777"/>
            <a:ext cx="5013946" cy="501394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F4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60"/>
                </a:lnSpc>
              </a:pPr>
              <a:r>
                <a:rPr lang="en-US" sz="2900">
                  <a:solidFill>
                    <a:srgbClr val="F1F1F1"/>
                  </a:solidFill>
                  <a:latin typeface="Poppins"/>
                  <a:ea typeface="Poppins"/>
                  <a:cs typeface="Poppins"/>
                  <a:sym typeface="Poppins"/>
                </a:rPr>
                <a:t>with</a:t>
              </a:r>
            </a:p>
            <a:p>
              <a:pPr algn="ctr">
                <a:lnSpc>
                  <a:spcPts val="14138"/>
                </a:lnSpc>
              </a:pPr>
              <a:r>
                <a:rPr lang="en-US" sz="10099" b="1">
                  <a:solidFill>
                    <a:srgbClr val="F1F1F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3.32b</a:t>
              </a:r>
            </a:p>
            <a:p>
              <a:pPr algn="ctr">
                <a:lnSpc>
                  <a:spcPts val="4059"/>
                </a:lnSpc>
              </a:pPr>
              <a:r>
                <a:rPr lang="en-US" sz="2899">
                  <a:solidFill>
                    <a:srgbClr val="F1F1F1"/>
                  </a:solidFill>
                  <a:latin typeface="Poppins"/>
                  <a:ea typeface="Poppins"/>
                  <a:cs typeface="Poppins"/>
                  <a:sym typeface="Poppins"/>
                </a:rPr>
                <a:t>gamers world-wide in 2026¹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03717" y="6833797"/>
            <a:ext cx="4676427" cy="182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endParaRPr/>
          </a:p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rPr>
              <a:t>and this is forecasted to increase by </a:t>
            </a:r>
            <a:r>
              <a:rPr lang="en-US" sz="2599" b="1">
                <a:solidFill>
                  <a:srgbClr val="1A1F41"/>
                </a:solidFill>
                <a:latin typeface="Poppins Bold"/>
                <a:ea typeface="Poppins Bold"/>
                <a:cs typeface="Poppins Bold"/>
                <a:sym typeface="Poppins Bold"/>
              </a:rPr>
              <a:t>6.67%</a:t>
            </a:r>
            <a:r>
              <a:rPr lang="en-US" sz="2599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rPr>
              <a:t> by 2027!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1A1F4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180061" y="9387084"/>
            <a:ext cx="3824148" cy="617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1A1F41"/>
                </a:solidFill>
                <a:latin typeface="Canva Sans"/>
                <a:ea typeface="Canva Sans"/>
                <a:cs typeface="Canva Sans"/>
                <a:sym typeface="Canva Sans"/>
              </a:rPr>
              <a:t>¹ Source: </a:t>
            </a:r>
            <a:r>
              <a:rPr lang="en-US" sz="1200" u="sng">
                <a:solidFill>
                  <a:srgbClr val="1A1F41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explodingtopics.com/blog/number-of-gamers"/>
              </a:rPr>
              <a:t>Exploding Topics Survey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1A1F41"/>
                </a:solidFill>
                <a:latin typeface="Canva Sans"/>
                <a:ea typeface="Canva Sans"/>
                <a:cs typeface="Canva Sans"/>
                <a:sym typeface="Canva Sans"/>
              </a:rPr>
              <a:t> ² Source: </a:t>
            </a:r>
            <a:r>
              <a:rPr lang="en-US" sz="1200" u="sng">
                <a:solidFill>
                  <a:srgbClr val="1A1F41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www.statista.com/forecasts/461273/digital-games-users-age-gender-digital-market-outlook-uk/"/>
              </a:rPr>
              <a:t>Statista Survey</a:t>
            </a:r>
          </a:p>
          <a:p>
            <a:pPr algn="l">
              <a:lnSpc>
                <a:spcPts val="1679"/>
              </a:lnSpc>
            </a:pPr>
            <a:endParaRPr lang="en-US" sz="1200" u="sng">
              <a:solidFill>
                <a:srgbClr val="1A1F41"/>
              </a:solidFill>
              <a:latin typeface="Canva Sans"/>
              <a:ea typeface="Canva Sans"/>
              <a:cs typeface="Canva Sans"/>
              <a:sym typeface="Canva Sans"/>
              <a:hlinkClick r:id="rId5" tooltip="https://www.statista.com/forecasts/461273/digital-games-users-age-gender-digital-market-outlook-uk/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847954" y="1278519"/>
            <a:ext cx="14592093" cy="146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0"/>
              </a:lnSpc>
            </a:pPr>
            <a:r>
              <a:rPr lang="en-US" sz="5000" b="1">
                <a:solidFill>
                  <a:srgbClr val="1A1F41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IN 2026, PLAYING VIDEO GAMES IS A POPULARISED</a:t>
            </a:r>
          </a:p>
          <a:p>
            <a:pPr algn="ctr">
              <a:lnSpc>
                <a:spcPts val="5750"/>
              </a:lnSpc>
            </a:pPr>
            <a:r>
              <a:rPr lang="en-US" sz="5000" b="1">
                <a:solidFill>
                  <a:srgbClr val="1A1F41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PAST-TIME HOBBY AND A CAREER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6234">
            <a:off x="16123090" y="333218"/>
            <a:ext cx="3820236" cy="2695003"/>
          </a:xfrm>
          <a:custGeom>
            <a:avLst/>
            <a:gdLst/>
            <a:ahLst/>
            <a:cxnLst/>
            <a:rect l="l" t="t" r="r" b="b"/>
            <a:pathLst>
              <a:path w="3820236" h="2695003">
                <a:moveTo>
                  <a:pt x="0" y="0"/>
                </a:moveTo>
                <a:lnTo>
                  <a:pt x="3820236" y="0"/>
                </a:lnTo>
                <a:lnTo>
                  <a:pt x="3820236" y="2695003"/>
                </a:lnTo>
                <a:lnTo>
                  <a:pt x="0" y="26950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1041331">
            <a:off x="15228878" y="8663504"/>
            <a:ext cx="3159718" cy="2229037"/>
          </a:xfrm>
          <a:custGeom>
            <a:avLst/>
            <a:gdLst/>
            <a:ahLst/>
            <a:cxnLst/>
            <a:rect l="l" t="t" r="r" b="b"/>
            <a:pathLst>
              <a:path w="3159718" h="2229037">
                <a:moveTo>
                  <a:pt x="0" y="0"/>
                </a:moveTo>
                <a:lnTo>
                  <a:pt x="3159718" y="0"/>
                </a:lnTo>
                <a:lnTo>
                  <a:pt x="3159718" y="2229037"/>
                </a:lnTo>
                <a:lnTo>
                  <a:pt x="0" y="22290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7044792" y="-4468439"/>
            <a:ext cx="5497139" cy="5497139"/>
          </a:xfrm>
          <a:custGeom>
            <a:avLst/>
            <a:gdLst/>
            <a:ahLst/>
            <a:cxnLst/>
            <a:rect l="l" t="t" r="r" b="b"/>
            <a:pathLst>
              <a:path w="5497139" h="5497139">
                <a:moveTo>
                  <a:pt x="0" y="0"/>
                </a:moveTo>
                <a:lnTo>
                  <a:pt x="5497139" y="0"/>
                </a:lnTo>
                <a:lnTo>
                  <a:pt x="5497139" y="5497139"/>
                </a:lnTo>
                <a:lnTo>
                  <a:pt x="0" y="5497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2448370" y="2336955"/>
            <a:ext cx="13719760" cy="5971811"/>
            <a:chOff x="0" y="0"/>
            <a:chExt cx="18293013" cy="7962415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500306" y="-1500306"/>
              <a:ext cx="18003677" cy="10963028"/>
            </a:xfrm>
            <a:prstGeom prst="rect">
              <a:avLst/>
            </a:prstGeom>
          </p:spPr>
        </p:pic>
        <p:sp>
          <p:nvSpPr>
            <p:cNvPr id="7" name="Freeform 7"/>
            <p:cNvSpPr/>
            <p:nvPr/>
          </p:nvSpPr>
          <p:spPr>
            <a:xfrm>
              <a:off x="13144194" y="6278077"/>
              <a:ext cx="1259761" cy="1114889"/>
            </a:xfrm>
            <a:custGeom>
              <a:avLst/>
              <a:gdLst/>
              <a:ahLst/>
              <a:cxnLst/>
              <a:rect l="l" t="t" r="r" b="b"/>
              <a:pathLst>
                <a:path w="1259761" h="1114889">
                  <a:moveTo>
                    <a:pt x="0" y="0"/>
                  </a:moveTo>
                  <a:lnTo>
                    <a:pt x="1259761" y="0"/>
                  </a:lnTo>
                  <a:lnTo>
                    <a:pt x="1259761" y="1114889"/>
                  </a:lnTo>
                  <a:lnTo>
                    <a:pt x="0" y="1114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8"/>
            <p:cNvSpPr/>
            <p:nvPr/>
          </p:nvSpPr>
          <p:spPr>
            <a:xfrm rot="1104453" flipH="1">
              <a:off x="14253734" y="5644476"/>
              <a:ext cx="1087675" cy="924524"/>
            </a:xfrm>
            <a:custGeom>
              <a:avLst/>
              <a:gdLst/>
              <a:ahLst/>
              <a:cxnLst/>
              <a:rect l="l" t="t" r="r" b="b"/>
              <a:pathLst>
                <a:path w="1087675" h="924524">
                  <a:moveTo>
                    <a:pt x="1087675" y="0"/>
                  </a:moveTo>
                  <a:lnTo>
                    <a:pt x="0" y="0"/>
                  </a:lnTo>
                  <a:lnTo>
                    <a:pt x="0" y="924524"/>
                  </a:lnTo>
                  <a:lnTo>
                    <a:pt x="1087675" y="924524"/>
                  </a:lnTo>
                  <a:lnTo>
                    <a:pt x="1087675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9345996" y="525676"/>
              <a:ext cx="1488314" cy="1488314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4F9F48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39"/>
                  </a:lnSpc>
                </a:pPr>
                <a:r>
                  <a:rPr lang="en-US" sz="2599" b="1">
                    <a:solidFill>
                      <a:srgbClr val="F1F1F1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12.34</a:t>
                </a: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5459554" y="5730694"/>
              <a:ext cx="2833459" cy="7139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189"/>
                </a:lnSpc>
                <a:spcBef>
                  <a:spcPct val="0"/>
                </a:spcBef>
              </a:pPr>
              <a:r>
                <a:rPr lang="en-US" sz="1564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figures impacted by data lag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V="1">
            <a:off x="3737911" y="4226162"/>
            <a:ext cx="9646728" cy="3450252"/>
          </a:xfrm>
          <a:prstGeom prst="line">
            <a:avLst/>
          </a:prstGeom>
          <a:ln w="133350" cap="rnd">
            <a:solidFill>
              <a:srgbClr val="4F9F48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14" name="Group 14"/>
          <p:cNvGrpSpPr/>
          <p:nvPr/>
        </p:nvGrpSpPr>
        <p:grpSpPr>
          <a:xfrm>
            <a:off x="12760014" y="8402003"/>
            <a:ext cx="997569" cy="1269311"/>
            <a:chOff x="0" y="0"/>
            <a:chExt cx="262734" cy="3343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62734" cy="334304"/>
            </a:xfrm>
            <a:custGeom>
              <a:avLst/>
              <a:gdLst/>
              <a:ahLst/>
              <a:cxnLst/>
              <a:rect l="l" t="t" r="r" b="b"/>
              <a:pathLst>
                <a:path w="262734" h="334304">
                  <a:moveTo>
                    <a:pt x="131367" y="0"/>
                  </a:moveTo>
                  <a:lnTo>
                    <a:pt x="131367" y="0"/>
                  </a:lnTo>
                  <a:cubicBezTo>
                    <a:pt x="166208" y="0"/>
                    <a:pt x="199622" y="13840"/>
                    <a:pt x="224258" y="38477"/>
                  </a:cubicBezTo>
                  <a:cubicBezTo>
                    <a:pt x="248894" y="63113"/>
                    <a:pt x="262734" y="96526"/>
                    <a:pt x="262734" y="131367"/>
                  </a:cubicBezTo>
                  <a:lnTo>
                    <a:pt x="262734" y="202937"/>
                  </a:lnTo>
                  <a:cubicBezTo>
                    <a:pt x="262734" y="275489"/>
                    <a:pt x="203919" y="334304"/>
                    <a:pt x="131367" y="334304"/>
                  </a:cubicBezTo>
                  <a:lnTo>
                    <a:pt x="131367" y="334304"/>
                  </a:lnTo>
                  <a:cubicBezTo>
                    <a:pt x="96526" y="334304"/>
                    <a:pt x="63113" y="320464"/>
                    <a:pt x="38477" y="295828"/>
                  </a:cubicBezTo>
                  <a:cubicBezTo>
                    <a:pt x="13840" y="271191"/>
                    <a:pt x="0" y="237778"/>
                    <a:pt x="0" y="202937"/>
                  </a:cubicBezTo>
                  <a:lnTo>
                    <a:pt x="0" y="131367"/>
                  </a:lnTo>
                  <a:cubicBezTo>
                    <a:pt x="0" y="58815"/>
                    <a:pt x="58815" y="0"/>
                    <a:pt x="131367" y="0"/>
                  </a:cubicBez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262734" cy="36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COVID-19 pandemic &amp; stock shortages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691834" y="8402003"/>
            <a:ext cx="997569" cy="1269311"/>
            <a:chOff x="0" y="0"/>
            <a:chExt cx="262734" cy="33430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62734" cy="334304"/>
            </a:xfrm>
            <a:custGeom>
              <a:avLst/>
              <a:gdLst/>
              <a:ahLst/>
              <a:cxnLst/>
              <a:rect l="l" t="t" r="r" b="b"/>
              <a:pathLst>
                <a:path w="262734" h="334304">
                  <a:moveTo>
                    <a:pt x="131367" y="0"/>
                  </a:moveTo>
                  <a:lnTo>
                    <a:pt x="131367" y="0"/>
                  </a:lnTo>
                  <a:cubicBezTo>
                    <a:pt x="166208" y="0"/>
                    <a:pt x="199622" y="13840"/>
                    <a:pt x="224258" y="38477"/>
                  </a:cubicBezTo>
                  <a:cubicBezTo>
                    <a:pt x="248894" y="63113"/>
                    <a:pt x="262734" y="96526"/>
                    <a:pt x="262734" y="131367"/>
                  </a:cubicBezTo>
                  <a:lnTo>
                    <a:pt x="262734" y="202937"/>
                  </a:lnTo>
                  <a:cubicBezTo>
                    <a:pt x="262734" y="275489"/>
                    <a:pt x="203919" y="334304"/>
                    <a:pt x="131367" y="334304"/>
                  </a:cubicBezTo>
                  <a:lnTo>
                    <a:pt x="131367" y="334304"/>
                  </a:lnTo>
                  <a:cubicBezTo>
                    <a:pt x="96526" y="334304"/>
                    <a:pt x="63113" y="320464"/>
                    <a:pt x="38477" y="295828"/>
                  </a:cubicBezTo>
                  <a:cubicBezTo>
                    <a:pt x="13840" y="271191"/>
                    <a:pt x="0" y="237778"/>
                    <a:pt x="0" y="202937"/>
                  </a:cubicBezTo>
                  <a:lnTo>
                    <a:pt x="0" y="131367"/>
                  </a:lnTo>
                  <a:cubicBezTo>
                    <a:pt x="0" y="58815"/>
                    <a:pt x="58815" y="0"/>
                    <a:pt x="131367" y="0"/>
                  </a:cubicBez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262734" cy="36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PS3 &amp; Nintendo Wii release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725924" y="8402003"/>
            <a:ext cx="997569" cy="1269311"/>
            <a:chOff x="0" y="0"/>
            <a:chExt cx="262734" cy="33430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62734" cy="334304"/>
            </a:xfrm>
            <a:custGeom>
              <a:avLst/>
              <a:gdLst/>
              <a:ahLst/>
              <a:cxnLst/>
              <a:rect l="l" t="t" r="r" b="b"/>
              <a:pathLst>
                <a:path w="262734" h="334304">
                  <a:moveTo>
                    <a:pt x="131367" y="0"/>
                  </a:moveTo>
                  <a:lnTo>
                    <a:pt x="131367" y="0"/>
                  </a:lnTo>
                  <a:cubicBezTo>
                    <a:pt x="166208" y="0"/>
                    <a:pt x="199622" y="13840"/>
                    <a:pt x="224258" y="38477"/>
                  </a:cubicBezTo>
                  <a:cubicBezTo>
                    <a:pt x="248894" y="63113"/>
                    <a:pt x="262734" y="96526"/>
                    <a:pt x="262734" y="131367"/>
                  </a:cubicBezTo>
                  <a:lnTo>
                    <a:pt x="262734" y="202937"/>
                  </a:lnTo>
                  <a:cubicBezTo>
                    <a:pt x="262734" y="275489"/>
                    <a:pt x="203919" y="334304"/>
                    <a:pt x="131367" y="334304"/>
                  </a:cubicBezTo>
                  <a:lnTo>
                    <a:pt x="131367" y="334304"/>
                  </a:lnTo>
                  <a:cubicBezTo>
                    <a:pt x="96526" y="334304"/>
                    <a:pt x="63113" y="320464"/>
                    <a:pt x="38477" y="295828"/>
                  </a:cubicBezTo>
                  <a:cubicBezTo>
                    <a:pt x="13840" y="271191"/>
                    <a:pt x="0" y="237778"/>
                    <a:pt x="0" y="202937"/>
                  </a:cubicBezTo>
                  <a:lnTo>
                    <a:pt x="0" y="131367"/>
                  </a:lnTo>
                  <a:cubicBezTo>
                    <a:pt x="0" y="58815"/>
                    <a:pt x="58815" y="0"/>
                    <a:pt x="131367" y="0"/>
                  </a:cubicBez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262734" cy="36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Xbox One &amp; PS4 release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74206" y="8402003"/>
            <a:ext cx="997569" cy="1269311"/>
            <a:chOff x="0" y="0"/>
            <a:chExt cx="262734" cy="33430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62734" cy="334304"/>
            </a:xfrm>
            <a:custGeom>
              <a:avLst/>
              <a:gdLst/>
              <a:ahLst/>
              <a:cxnLst/>
              <a:rect l="l" t="t" r="r" b="b"/>
              <a:pathLst>
                <a:path w="262734" h="334304">
                  <a:moveTo>
                    <a:pt x="131367" y="0"/>
                  </a:moveTo>
                  <a:lnTo>
                    <a:pt x="131367" y="0"/>
                  </a:lnTo>
                  <a:cubicBezTo>
                    <a:pt x="166208" y="0"/>
                    <a:pt x="199622" y="13840"/>
                    <a:pt x="224258" y="38477"/>
                  </a:cubicBezTo>
                  <a:cubicBezTo>
                    <a:pt x="248894" y="63113"/>
                    <a:pt x="262734" y="96526"/>
                    <a:pt x="262734" y="131367"/>
                  </a:cubicBezTo>
                  <a:lnTo>
                    <a:pt x="262734" y="202937"/>
                  </a:lnTo>
                  <a:cubicBezTo>
                    <a:pt x="262734" y="275489"/>
                    <a:pt x="203919" y="334304"/>
                    <a:pt x="131367" y="334304"/>
                  </a:cubicBezTo>
                  <a:lnTo>
                    <a:pt x="131367" y="334304"/>
                  </a:lnTo>
                  <a:cubicBezTo>
                    <a:pt x="96526" y="334304"/>
                    <a:pt x="63113" y="320464"/>
                    <a:pt x="38477" y="295828"/>
                  </a:cubicBezTo>
                  <a:cubicBezTo>
                    <a:pt x="13840" y="271191"/>
                    <a:pt x="0" y="237778"/>
                    <a:pt x="0" y="202937"/>
                  </a:cubicBezTo>
                  <a:lnTo>
                    <a:pt x="0" y="131367"/>
                  </a:lnTo>
                  <a:cubicBezTo>
                    <a:pt x="0" y="58815"/>
                    <a:pt x="58815" y="0"/>
                    <a:pt x="131367" y="0"/>
                  </a:cubicBez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262734" cy="36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PS1 &amp; Nintendo 64 release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044792" y="8402003"/>
            <a:ext cx="1006992" cy="1269311"/>
            <a:chOff x="0" y="0"/>
            <a:chExt cx="265216" cy="33430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65216" cy="334304"/>
            </a:xfrm>
            <a:custGeom>
              <a:avLst/>
              <a:gdLst/>
              <a:ahLst/>
              <a:cxnLst/>
              <a:rect l="l" t="t" r="r" b="b"/>
              <a:pathLst>
                <a:path w="265216" h="334304">
                  <a:moveTo>
                    <a:pt x="132608" y="0"/>
                  </a:moveTo>
                  <a:lnTo>
                    <a:pt x="132608" y="0"/>
                  </a:lnTo>
                  <a:cubicBezTo>
                    <a:pt x="205845" y="0"/>
                    <a:pt x="265216" y="59371"/>
                    <a:pt x="265216" y="132608"/>
                  </a:cubicBezTo>
                  <a:lnTo>
                    <a:pt x="265216" y="201696"/>
                  </a:lnTo>
                  <a:cubicBezTo>
                    <a:pt x="265216" y="274933"/>
                    <a:pt x="205845" y="334304"/>
                    <a:pt x="132608" y="334304"/>
                  </a:cubicBezTo>
                  <a:lnTo>
                    <a:pt x="132608" y="334304"/>
                  </a:lnTo>
                  <a:cubicBezTo>
                    <a:pt x="59371" y="334304"/>
                    <a:pt x="0" y="274933"/>
                    <a:pt x="0" y="201696"/>
                  </a:cubicBezTo>
                  <a:lnTo>
                    <a:pt x="0" y="132608"/>
                  </a:lnTo>
                  <a:cubicBezTo>
                    <a:pt x="0" y="59371"/>
                    <a:pt x="59371" y="0"/>
                    <a:pt x="132608" y="0"/>
                  </a:cubicBez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265216" cy="362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79"/>
                </a:lnSpc>
              </a:pPr>
              <a:r>
                <a:rPr lang="en-US" sz="1200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 PS2, Gamecube &amp; Xbox release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847954" y="1278519"/>
            <a:ext cx="14592093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0"/>
              </a:lnSpc>
            </a:pPr>
            <a:r>
              <a:rPr lang="en-US" sz="5000" b="1">
                <a:solidFill>
                  <a:srgbClr val="1A1F41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AND VIDEO GAME SALES ARE ONLY GOING TO CONTINUE RISING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6234">
            <a:off x="15067012" y="333218"/>
            <a:ext cx="3820236" cy="2695003"/>
          </a:xfrm>
          <a:custGeom>
            <a:avLst/>
            <a:gdLst/>
            <a:ahLst/>
            <a:cxnLst/>
            <a:rect l="l" t="t" r="r" b="b"/>
            <a:pathLst>
              <a:path w="3820236" h="2695003">
                <a:moveTo>
                  <a:pt x="0" y="0"/>
                </a:moveTo>
                <a:lnTo>
                  <a:pt x="3820236" y="0"/>
                </a:lnTo>
                <a:lnTo>
                  <a:pt x="3820236" y="2695003"/>
                </a:lnTo>
                <a:lnTo>
                  <a:pt x="0" y="26950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1041331">
            <a:off x="-1126634" y="565567"/>
            <a:ext cx="3820236" cy="2695003"/>
          </a:xfrm>
          <a:custGeom>
            <a:avLst/>
            <a:gdLst/>
            <a:ahLst/>
            <a:cxnLst/>
            <a:rect l="l" t="t" r="r" b="b"/>
            <a:pathLst>
              <a:path w="3820236" h="2695003">
                <a:moveTo>
                  <a:pt x="0" y="0"/>
                </a:moveTo>
                <a:lnTo>
                  <a:pt x="3820236" y="0"/>
                </a:lnTo>
                <a:lnTo>
                  <a:pt x="3820236" y="2695003"/>
                </a:lnTo>
                <a:lnTo>
                  <a:pt x="0" y="26950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7491711" y="5724792"/>
            <a:ext cx="5497139" cy="5497139"/>
          </a:xfrm>
          <a:custGeom>
            <a:avLst/>
            <a:gdLst/>
            <a:ahLst/>
            <a:cxnLst/>
            <a:rect l="l" t="t" r="r" b="b"/>
            <a:pathLst>
              <a:path w="5497139" h="5497139">
                <a:moveTo>
                  <a:pt x="0" y="0"/>
                </a:moveTo>
                <a:lnTo>
                  <a:pt x="5497139" y="0"/>
                </a:lnTo>
                <a:lnTo>
                  <a:pt x="5497139" y="5497139"/>
                </a:lnTo>
                <a:lnTo>
                  <a:pt x="0" y="5497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4862775" y="5143500"/>
            <a:ext cx="5497139" cy="5497139"/>
          </a:xfrm>
          <a:custGeom>
            <a:avLst/>
            <a:gdLst/>
            <a:ahLst/>
            <a:cxnLst/>
            <a:rect l="l" t="t" r="r" b="b"/>
            <a:pathLst>
              <a:path w="5497139" h="5497139">
                <a:moveTo>
                  <a:pt x="0" y="0"/>
                </a:moveTo>
                <a:lnTo>
                  <a:pt x="5497139" y="0"/>
                </a:lnTo>
                <a:lnTo>
                  <a:pt x="5497139" y="5497139"/>
                </a:lnTo>
                <a:lnTo>
                  <a:pt x="0" y="5497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6" name="Group 6"/>
          <p:cNvGrpSpPr/>
          <p:nvPr/>
        </p:nvGrpSpPr>
        <p:grpSpPr>
          <a:xfrm>
            <a:off x="3299770" y="5371624"/>
            <a:ext cx="5117828" cy="3984867"/>
            <a:chOff x="0" y="0"/>
            <a:chExt cx="6823770" cy="531315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6823770" cy="5313156"/>
              <a:chOff x="0" y="0"/>
              <a:chExt cx="1427568" cy="111154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27568" cy="1111540"/>
              </a:xfrm>
              <a:custGeom>
                <a:avLst/>
                <a:gdLst/>
                <a:ahLst/>
                <a:cxnLst/>
                <a:rect l="l" t="t" r="r" b="b"/>
                <a:pathLst>
                  <a:path w="1427568" h="1111540">
                    <a:moveTo>
                      <a:pt x="0" y="0"/>
                    </a:moveTo>
                    <a:lnTo>
                      <a:pt x="1427568" y="0"/>
                    </a:lnTo>
                    <a:lnTo>
                      <a:pt x="1427568" y="1111540"/>
                    </a:lnTo>
                    <a:lnTo>
                      <a:pt x="0" y="1111540"/>
                    </a:lnTo>
                    <a:close/>
                  </a:path>
                </a:pathLst>
              </a:custGeom>
              <a:solidFill>
                <a:srgbClr val="F1F1F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57150"/>
                <a:ext cx="1427568" cy="11686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1301857" y="495307"/>
              <a:ext cx="4220055" cy="555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04"/>
                </a:lnSpc>
                <a:spcBef>
                  <a:spcPct val="0"/>
                </a:spcBef>
              </a:pPr>
              <a:r>
                <a:rPr lang="en-US" sz="2360" b="1">
                  <a:solidFill>
                    <a:srgbClr val="1A1F4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LATENCY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1940" y="1339681"/>
              <a:ext cx="5739890" cy="3549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43"/>
                </a:lnSpc>
              </a:pPr>
              <a:r>
                <a:rPr lang="en-US" sz="1888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This is likely the case as the data scrapes a specific website and is reliant on it being accurate and updated.</a:t>
              </a:r>
            </a:p>
            <a:p>
              <a:pPr algn="l">
                <a:lnSpc>
                  <a:spcPts val="2643"/>
                </a:lnSpc>
              </a:pPr>
              <a:endParaRPr lang="en-US" sz="1888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2643"/>
                </a:lnSpc>
                <a:spcBef>
                  <a:spcPct val="0"/>
                </a:spcBef>
              </a:pPr>
              <a:r>
                <a:rPr lang="en-US" sz="1888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Because of this, we have limited information available for 2019 and 2020.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4803047" y="3145633"/>
            <a:ext cx="2111274" cy="2047936"/>
          </a:xfrm>
          <a:custGeom>
            <a:avLst/>
            <a:gdLst/>
            <a:ahLst/>
            <a:cxnLst/>
            <a:rect l="l" t="t" r="r" b="b"/>
            <a:pathLst>
              <a:path w="2111274" h="2047936">
                <a:moveTo>
                  <a:pt x="0" y="0"/>
                </a:moveTo>
                <a:lnTo>
                  <a:pt x="2111275" y="0"/>
                </a:lnTo>
                <a:lnTo>
                  <a:pt x="2111275" y="2047937"/>
                </a:lnTo>
                <a:lnTo>
                  <a:pt x="0" y="20479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3" name="Group 13"/>
          <p:cNvGrpSpPr/>
          <p:nvPr/>
        </p:nvGrpSpPr>
        <p:grpSpPr>
          <a:xfrm>
            <a:off x="9439845" y="5371624"/>
            <a:ext cx="5117828" cy="3984867"/>
            <a:chOff x="0" y="0"/>
            <a:chExt cx="6823770" cy="531315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6823770" cy="5313156"/>
              <a:chOff x="0" y="0"/>
              <a:chExt cx="1427568" cy="111154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427568" cy="1111540"/>
              </a:xfrm>
              <a:custGeom>
                <a:avLst/>
                <a:gdLst/>
                <a:ahLst/>
                <a:cxnLst/>
                <a:rect l="l" t="t" r="r" b="b"/>
                <a:pathLst>
                  <a:path w="1427568" h="1111540">
                    <a:moveTo>
                      <a:pt x="0" y="0"/>
                    </a:moveTo>
                    <a:lnTo>
                      <a:pt x="1427568" y="0"/>
                    </a:lnTo>
                    <a:lnTo>
                      <a:pt x="1427568" y="1111540"/>
                    </a:lnTo>
                    <a:lnTo>
                      <a:pt x="0" y="1111540"/>
                    </a:lnTo>
                    <a:close/>
                  </a:path>
                </a:pathLst>
              </a:custGeom>
              <a:solidFill>
                <a:srgbClr val="F1F1F1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57150"/>
                <a:ext cx="1427568" cy="116869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301857" y="495307"/>
              <a:ext cx="4220055" cy="5550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04"/>
                </a:lnSpc>
                <a:spcBef>
                  <a:spcPct val="0"/>
                </a:spcBef>
              </a:pPr>
              <a:r>
                <a:rPr lang="en-US" sz="2360" b="1">
                  <a:solidFill>
                    <a:srgbClr val="1A1F4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COVID-19 PANDEMIC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41940" y="1339681"/>
              <a:ext cx="5739890" cy="35491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643"/>
                </a:lnSpc>
              </a:pPr>
              <a:r>
                <a:rPr lang="en-US" sz="1888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In 2019-2020, the world was rocked by the COVID-19 pandemic.</a:t>
              </a:r>
            </a:p>
            <a:p>
              <a:pPr algn="l">
                <a:lnSpc>
                  <a:spcPts val="2643"/>
                </a:lnSpc>
              </a:pPr>
              <a:endParaRPr lang="en-US" sz="1888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2643"/>
                </a:lnSpc>
                <a:spcBef>
                  <a:spcPct val="0"/>
                </a:spcBef>
              </a:pPr>
              <a:r>
                <a:rPr lang="en-US" sz="1888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Due to factory closures during the lockdowns, there were shortages in key parts for console production which impacted overall console and game sales.</a:t>
              </a:r>
            </a:p>
          </p:txBody>
        </p:sp>
      </p:grpSp>
      <p:sp>
        <p:nvSpPr>
          <p:cNvPr id="19" name="Freeform 19"/>
          <p:cNvSpPr/>
          <p:nvPr/>
        </p:nvSpPr>
        <p:spPr>
          <a:xfrm>
            <a:off x="10924721" y="3095564"/>
            <a:ext cx="2148076" cy="2148076"/>
          </a:xfrm>
          <a:custGeom>
            <a:avLst/>
            <a:gdLst/>
            <a:ahLst/>
            <a:cxnLst/>
            <a:rect l="l" t="t" r="r" b="b"/>
            <a:pathLst>
              <a:path w="2148076" h="2148076">
                <a:moveTo>
                  <a:pt x="0" y="0"/>
                </a:moveTo>
                <a:lnTo>
                  <a:pt x="2148075" y="0"/>
                </a:lnTo>
                <a:lnTo>
                  <a:pt x="2148075" y="2148075"/>
                </a:lnTo>
                <a:lnTo>
                  <a:pt x="0" y="21480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TextBox 20"/>
          <p:cNvSpPr txBox="1"/>
          <p:nvPr/>
        </p:nvSpPr>
        <p:spPr>
          <a:xfrm>
            <a:off x="3801116" y="2232305"/>
            <a:ext cx="10561452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rPr>
              <a:t>After 2018, there’s a huge drop in global sales, so what happened?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47954" y="1278519"/>
            <a:ext cx="14592093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0"/>
              </a:lnSpc>
            </a:pPr>
            <a:r>
              <a:rPr lang="en-US" sz="5000" b="1">
                <a:solidFill>
                  <a:srgbClr val="1A1F41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WHOA, HOLD ON. LET’S TALK ABOUT THAT DATA DROP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7007">
            <a:off x="342001" y="9005122"/>
            <a:ext cx="1734216" cy="1223411"/>
          </a:xfrm>
          <a:custGeom>
            <a:avLst/>
            <a:gdLst/>
            <a:ahLst/>
            <a:cxnLst/>
            <a:rect l="l" t="t" r="r" b="b"/>
            <a:pathLst>
              <a:path w="1734216" h="1223411">
                <a:moveTo>
                  <a:pt x="0" y="0"/>
                </a:moveTo>
                <a:lnTo>
                  <a:pt x="1734217" y="0"/>
                </a:lnTo>
                <a:lnTo>
                  <a:pt x="1734217" y="1223411"/>
                </a:lnTo>
                <a:lnTo>
                  <a:pt x="0" y="12234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8155420" y="9556634"/>
            <a:ext cx="3322868" cy="3322868"/>
          </a:xfrm>
          <a:custGeom>
            <a:avLst/>
            <a:gdLst/>
            <a:ahLst/>
            <a:cxnLst/>
            <a:rect l="l" t="t" r="r" b="b"/>
            <a:pathLst>
              <a:path w="3322868" h="3322868">
                <a:moveTo>
                  <a:pt x="0" y="0"/>
                </a:moveTo>
                <a:lnTo>
                  <a:pt x="3322868" y="0"/>
                </a:lnTo>
                <a:lnTo>
                  <a:pt x="3322868" y="3322868"/>
                </a:lnTo>
                <a:lnTo>
                  <a:pt x="0" y="3322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597866" y="-2575599"/>
            <a:ext cx="3322868" cy="3322868"/>
          </a:xfrm>
          <a:custGeom>
            <a:avLst/>
            <a:gdLst/>
            <a:ahLst/>
            <a:cxnLst/>
            <a:rect l="l" t="t" r="r" b="b"/>
            <a:pathLst>
              <a:path w="3322868" h="3322868">
                <a:moveTo>
                  <a:pt x="0" y="0"/>
                </a:moveTo>
                <a:lnTo>
                  <a:pt x="3322868" y="0"/>
                </a:lnTo>
                <a:lnTo>
                  <a:pt x="3322868" y="3322868"/>
                </a:lnTo>
                <a:lnTo>
                  <a:pt x="0" y="3322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417184" y="3612001"/>
            <a:ext cx="9221979" cy="828240"/>
            <a:chOff x="0" y="0"/>
            <a:chExt cx="2428834" cy="2181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28834" cy="218137"/>
            </a:xfrm>
            <a:custGeom>
              <a:avLst/>
              <a:gdLst/>
              <a:ahLst/>
              <a:cxnLst/>
              <a:rect l="l" t="t" r="r" b="b"/>
              <a:pathLst>
                <a:path w="2428834" h="218137">
                  <a:moveTo>
                    <a:pt x="2225634" y="0"/>
                  </a:moveTo>
                  <a:lnTo>
                    <a:pt x="0" y="0"/>
                  </a:lnTo>
                  <a:lnTo>
                    <a:pt x="0" y="218137"/>
                  </a:lnTo>
                  <a:lnTo>
                    <a:pt x="2225634" y="218137"/>
                  </a:lnTo>
                  <a:lnTo>
                    <a:pt x="2428834" y="109069"/>
                  </a:lnTo>
                  <a:lnTo>
                    <a:pt x="2225634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314534" cy="275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1995-1996: Playstation 1 and Nintendo 64 release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17184" y="4903692"/>
            <a:ext cx="9221979" cy="828240"/>
            <a:chOff x="0" y="0"/>
            <a:chExt cx="2428834" cy="2181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28834" cy="218137"/>
            </a:xfrm>
            <a:custGeom>
              <a:avLst/>
              <a:gdLst/>
              <a:ahLst/>
              <a:cxnLst/>
              <a:rect l="l" t="t" r="r" b="b"/>
              <a:pathLst>
                <a:path w="2428834" h="218137">
                  <a:moveTo>
                    <a:pt x="2225634" y="0"/>
                  </a:moveTo>
                  <a:lnTo>
                    <a:pt x="0" y="0"/>
                  </a:lnTo>
                  <a:lnTo>
                    <a:pt x="0" y="218137"/>
                  </a:lnTo>
                  <a:lnTo>
                    <a:pt x="2225634" y="218137"/>
                  </a:lnTo>
                  <a:lnTo>
                    <a:pt x="2428834" y="109069"/>
                  </a:lnTo>
                  <a:lnTo>
                    <a:pt x="2225634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2314534" cy="275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2000-2001: Playstation 2, Xbox, Gamecube release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17184" y="6198657"/>
            <a:ext cx="9221979" cy="828240"/>
            <a:chOff x="0" y="0"/>
            <a:chExt cx="2428834" cy="21813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28834" cy="218137"/>
            </a:xfrm>
            <a:custGeom>
              <a:avLst/>
              <a:gdLst/>
              <a:ahLst/>
              <a:cxnLst/>
              <a:rect l="l" t="t" r="r" b="b"/>
              <a:pathLst>
                <a:path w="2428834" h="218137">
                  <a:moveTo>
                    <a:pt x="2225634" y="0"/>
                  </a:moveTo>
                  <a:lnTo>
                    <a:pt x="0" y="0"/>
                  </a:lnTo>
                  <a:lnTo>
                    <a:pt x="0" y="218137"/>
                  </a:lnTo>
                  <a:lnTo>
                    <a:pt x="2225634" y="218137"/>
                  </a:lnTo>
                  <a:lnTo>
                    <a:pt x="2428834" y="109069"/>
                  </a:lnTo>
                  <a:lnTo>
                    <a:pt x="2225634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314534" cy="275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2005-2006: Xbox 360, Nintendo Wii &amp; Playstation 3 release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17184" y="7493622"/>
            <a:ext cx="9221979" cy="828240"/>
            <a:chOff x="0" y="0"/>
            <a:chExt cx="2428834" cy="2181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428834" cy="218137"/>
            </a:xfrm>
            <a:custGeom>
              <a:avLst/>
              <a:gdLst/>
              <a:ahLst/>
              <a:cxnLst/>
              <a:rect l="l" t="t" r="r" b="b"/>
              <a:pathLst>
                <a:path w="2428834" h="218137">
                  <a:moveTo>
                    <a:pt x="2225634" y="0"/>
                  </a:moveTo>
                  <a:lnTo>
                    <a:pt x="0" y="0"/>
                  </a:lnTo>
                  <a:lnTo>
                    <a:pt x="0" y="218137"/>
                  </a:lnTo>
                  <a:lnTo>
                    <a:pt x="2225634" y="218137"/>
                  </a:lnTo>
                  <a:lnTo>
                    <a:pt x="2428834" y="109069"/>
                  </a:lnTo>
                  <a:lnTo>
                    <a:pt x="2225634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314534" cy="275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2012-2014: Wii U, Xbox One &amp; Playstation 4 release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250488" y="0"/>
            <a:ext cx="7037512" cy="10287000"/>
            <a:chOff x="0" y="0"/>
            <a:chExt cx="9383349" cy="13716000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4"/>
            <a:srcRect l="27253" r="27253"/>
            <a:stretch>
              <a:fillRect/>
            </a:stretch>
          </p:blipFill>
          <p:spPr>
            <a:xfrm>
              <a:off x="0" y="0"/>
              <a:ext cx="9383349" cy="13716000"/>
            </a:xfrm>
            <a:prstGeom prst="rect">
              <a:avLst/>
            </a:prstGeom>
          </p:spPr>
        </p:pic>
      </p:grpSp>
      <p:sp>
        <p:nvSpPr>
          <p:cNvPr id="19" name="TextBox 19"/>
          <p:cNvSpPr txBox="1"/>
          <p:nvPr/>
        </p:nvSpPr>
        <p:spPr>
          <a:xfrm>
            <a:off x="1028700" y="1278519"/>
            <a:ext cx="10449588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5000" b="1">
                <a:solidFill>
                  <a:srgbClr val="1A1F41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DESPITE THE DATA, WE KNOW SALES WILL GROW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2207103"/>
            <a:ext cx="9458159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rPr>
              <a:t>We’ve already seen that video game sales increase after every major console release. Here’s a few examples: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48335"/>
            <a:ext cx="6242072" cy="10335335"/>
            <a:chOff x="0" y="0"/>
            <a:chExt cx="923933" cy="152980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23934" cy="1529807"/>
            </a:xfrm>
            <a:custGeom>
              <a:avLst/>
              <a:gdLst/>
              <a:ahLst/>
              <a:cxnLst/>
              <a:rect l="l" t="t" r="r" b="b"/>
              <a:pathLst>
                <a:path w="923934" h="1529807">
                  <a:moveTo>
                    <a:pt x="0" y="0"/>
                  </a:moveTo>
                  <a:lnTo>
                    <a:pt x="923934" y="0"/>
                  </a:lnTo>
                  <a:lnTo>
                    <a:pt x="923934" y="1529807"/>
                  </a:lnTo>
                  <a:lnTo>
                    <a:pt x="0" y="1529807"/>
                  </a:lnTo>
                  <a:close/>
                </a:path>
              </a:pathLst>
            </a:custGeom>
            <a:blipFill>
              <a:blip r:embed="rId2"/>
              <a:stretch>
                <a:fillRect l="-74492" r="-7449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 rot="-1691021">
            <a:off x="15919929" y="2558110"/>
            <a:ext cx="2846485" cy="2008066"/>
          </a:xfrm>
          <a:custGeom>
            <a:avLst/>
            <a:gdLst/>
            <a:ahLst/>
            <a:cxnLst/>
            <a:rect l="l" t="t" r="r" b="b"/>
            <a:pathLst>
              <a:path w="2846485" h="2008066">
                <a:moveTo>
                  <a:pt x="0" y="0"/>
                </a:moveTo>
                <a:lnTo>
                  <a:pt x="2846486" y="0"/>
                </a:lnTo>
                <a:lnTo>
                  <a:pt x="2846486" y="2008065"/>
                </a:lnTo>
                <a:lnTo>
                  <a:pt x="0" y="2008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6298412" y="-3481782"/>
            <a:ext cx="4510482" cy="4510482"/>
          </a:xfrm>
          <a:custGeom>
            <a:avLst/>
            <a:gdLst/>
            <a:ahLst/>
            <a:cxnLst/>
            <a:rect l="l" t="t" r="r" b="b"/>
            <a:pathLst>
              <a:path w="4510482" h="4510482">
                <a:moveTo>
                  <a:pt x="0" y="0"/>
                </a:moveTo>
                <a:lnTo>
                  <a:pt x="4510482" y="0"/>
                </a:lnTo>
                <a:lnTo>
                  <a:pt x="4510482" y="4510482"/>
                </a:lnTo>
                <a:lnTo>
                  <a:pt x="0" y="45104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7306597" y="1278519"/>
            <a:ext cx="10437526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5000" b="1">
                <a:solidFill>
                  <a:srgbClr val="1A1F41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GAMERS LIKE TO BE TAKEN ON AN ADVENTURE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2901" y="2180795"/>
            <a:ext cx="5090302" cy="2969343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9060128" y="4868824"/>
            <a:ext cx="5595849" cy="1223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rPr>
              <a:t>of total global sales are from </a:t>
            </a:r>
            <a:r>
              <a:rPr lang="en-US" sz="3499" b="1">
                <a:solidFill>
                  <a:srgbClr val="1A1F41"/>
                </a:solidFill>
                <a:latin typeface="Poppins Bold"/>
                <a:ea typeface="Poppins Bold"/>
                <a:cs typeface="Poppins Bold"/>
                <a:sym typeface="Poppins Bold"/>
              </a:rPr>
              <a:t>adventure </a:t>
            </a:r>
            <a:r>
              <a:rPr lang="en-US" sz="3499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rPr>
              <a:t>games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42677" y="6754203"/>
            <a:ext cx="10016623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rPr>
              <a:t>Adventure games have the highest number of games within the gaming industry and it’s no surprise why.</a:t>
            </a:r>
          </a:p>
        </p:txBody>
      </p:sp>
      <p:sp>
        <p:nvSpPr>
          <p:cNvPr id="10" name="Freeform 10"/>
          <p:cNvSpPr/>
          <p:nvPr/>
        </p:nvSpPr>
        <p:spPr>
          <a:xfrm>
            <a:off x="8140340" y="8391116"/>
            <a:ext cx="7864303" cy="3381650"/>
          </a:xfrm>
          <a:custGeom>
            <a:avLst/>
            <a:gdLst/>
            <a:ahLst/>
            <a:cxnLst/>
            <a:rect l="l" t="t" r="r" b="b"/>
            <a:pathLst>
              <a:path w="7864303" h="3381650">
                <a:moveTo>
                  <a:pt x="0" y="0"/>
                </a:moveTo>
                <a:lnTo>
                  <a:pt x="7864303" y="0"/>
                </a:lnTo>
                <a:lnTo>
                  <a:pt x="7864303" y="3381650"/>
                </a:lnTo>
                <a:lnTo>
                  <a:pt x="0" y="33816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2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46234">
            <a:off x="15945674" y="51086"/>
            <a:ext cx="3820236" cy="2695003"/>
          </a:xfrm>
          <a:custGeom>
            <a:avLst/>
            <a:gdLst/>
            <a:ahLst/>
            <a:cxnLst/>
            <a:rect l="l" t="t" r="r" b="b"/>
            <a:pathLst>
              <a:path w="3820236" h="2695003">
                <a:moveTo>
                  <a:pt x="0" y="0"/>
                </a:moveTo>
                <a:lnTo>
                  <a:pt x="3820236" y="0"/>
                </a:lnTo>
                <a:lnTo>
                  <a:pt x="3820236" y="2695003"/>
                </a:lnTo>
                <a:lnTo>
                  <a:pt x="0" y="26950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1041331">
            <a:off x="-541062" y="8420253"/>
            <a:ext cx="3820236" cy="2695003"/>
          </a:xfrm>
          <a:custGeom>
            <a:avLst/>
            <a:gdLst/>
            <a:ahLst/>
            <a:cxnLst/>
            <a:rect l="l" t="t" r="r" b="b"/>
            <a:pathLst>
              <a:path w="3820236" h="2695003">
                <a:moveTo>
                  <a:pt x="0" y="0"/>
                </a:moveTo>
                <a:lnTo>
                  <a:pt x="3820235" y="0"/>
                </a:lnTo>
                <a:lnTo>
                  <a:pt x="3820235" y="2695003"/>
                </a:lnTo>
                <a:lnTo>
                  <a:pt x="0" y="26950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5163074" y="-4549795"/>
            <a:ext cx="5578495" cy="5578495"/>
          </a:xfrm>
          <a:custGeom>
            <a:avLst/>
            <a:gdLst/>
            <a:ahLst/>
            <a:cxnLst/>
            <a:rect l="l" t="t" r="r" b="b"/>
            <a:pathLst>
              <a:path w="5578495" h="5578495">
                <a:moveTo>
                  <a:pt x="0" y="0"/>
                </a:moveTo>
                <a:lnTo>
                  <a:pt x="5578495" y="0"/>
                </a:lnTo>
                <a:lnTo>
                  <a:pt x="5578495" y="5578495"/>
                </a:lnTo>
                <a:lnTo>
                  <a:pt x="0" y="55784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9144000" y="9426706"/>
            <a:ext cx="5578495" cy="5578495"/>
          </a:xfrm>
          <a:custGeom>
            <a:avLst/>
            <a:gdLst/>
            <a:ahLst/>
            <a:cxnLst/>
            <a:rect l="l" t="t" r="r" b="b"/>
            <a:pathLst>
              <a:path w="5578495" h="5578495">
                <a:moveTo>
                  <a:pt x="0" y="0"/>
                </a:moveTo>
                <a:lnTo>
                  <a:pt x="5578495" y="0"/>
                </a:lnTo>
                <a:lnTo>
                  <a:pt x="5578495" y="5578494"/>
                </a:lnTo>
                <a:lnTo>
                  <a:pt x="0" y="55784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152" y="1109561"/>
            <a:ext cx="13609898" cy="9608672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847954" y="1278519"/>
            <a:ext cx="14592093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0"/>
              </a:lnSpc>
            </a:pPr>
            <a:r>
              <a:rPr lang="en-US" sz="5000" b="1">
                <a:solidFill>
                  <a:srgbClr val="1A1F41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ADVENTURE DOMINATES THE MARKET</a:t>
            </a:r>
          </a:p>
        </p:txBody>
      </p:sp>
      <p:sp>
        <p:nvSpPr>
          <p:cNvPr id="8" name="Freeform 8"/>
          <p:cNvSpPr/>
          <p:nvPr/>
        </p:nvSpPr>
        <p:spPr>
          <a:xfrm rot="3257171" flipH="1">
            <a:off x="13429218" y="2512994"/>
            <a:ext cx="1630840" cy="1386214"/>
          </a:xfrm>
          <a:custGeom>
            <a:avLst/>
            <a:gdLst/>
            <a:ahLst/>
            <a:cxnLst/>
            <a:rect l="l" t="t" r="r" b="b"/>
            <a:pathLst>
              <a:path w="1630840" h="1386214">
                <a:moveTo>
                  <a:pt x="1630840" y="0"/>
                </a:moveTo>
                <a:lnTo>
                  <a:pt x="0" y="0"/>
                </a:lnTo>
                <a:lnTo>
                  <a:pt x="0" y="1386214"/>
                </a:lnTo>
                <a:lnTo>
                  <a:pt x="1630840" y="1386214"/>
                </a:lnTo>
                <a:lnTo>
                  <a:pt x="163084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4244638" y="3500508"/>
            <a:ext cx="3167481" cy="1621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54"/>
              </a:lnSpc>
            </a:pPr>
            <a:r>
              <a:rPr lang="en-US" sz="4039" b="1">
                <a:solidFill>
                  <a:srgbClr val="1A1F41"/>
                </a:solidFill>
                <a:latin typeface="Poppins Bold"/>
                <a:ea typeface="Poppins Bold"/>
                <a:cs typeface="Poppins Bold"/>
                <a:sym typeface="Poppins Bold"/>
              </a:rPr>
              <a:t>17%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rPr>
              <a:t>of all games are adventure games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39951" y="4187299"/>
            <a:ext cx="2666833" cy="4997440"/>
            <a:chOff x="0" y="0"/>
            <a:chExt cx="702376" cy="131619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2376" cy="1316198"/>
            </a:xfrm>
            <a:custGeom>
              <a:avLst/>
              <a:gdLst/>
              <a:ahLst/>
              <a:cxnLst/>
              <a:rect l="l" t="t" r="r" b="b"/>
              <a:pathLst>
                <a:path w="702376" h="1316198">
                  <a:moveTo>
                    <a:pt x="148055" y="0"/>
                  </a:moveTo>
                  <a:lnTo>
                    <a:pt x="554321" y="0"/>
                  </a:lnTo>
                  <a:cubicBezTo>
                    <a:pt x="593588" y="0"/>
                    <a:pt x="631246" y="15599"/>
                    <a:pt x="659012" y="43364"/>
                  </a:cubicBezTo>
                  <a:cubicBezTo>
                    <a:pt x="686777" y="71130"/>
                    <a:pt x="702376" y="108788"/>
                    <a:pt x="702376" y="148055"/>
                  </a:cubicBezTo>
                  <a:lnTo>
                    <a:pt x="702376" y="1168143"/>
                  </a:lnTo>
                  <a:cubicBezTo>
                    <a:pt x="702376" y="1207410"/>
                    <a:pt x="686777" y="1245068"/>
                    <a:pt x="659012" y="1272834"/>
                  </a:cubicBezTo>
                  <a:cubicBezTo>
                    <a:pt x="631246" y="1300600"/>
                    <a:pt x="593588" y="1316198"/>
                    <a:pt x="554321" y="1316198"/>
                  </a:cubicBezTo>
                  <a:lnTo>
                    <a:pt x="148055" y="1316198"/>
                  </a:lnTo>
                  <a:cubicBezTo>
                    <a:pt x="108788" y="1316198"/>
                    <a:pt x="71130" y="1300600"/>
                    <a:pt x="43364" y="1272834"/>
                  </a:cubicBezTo>
                  <a:cubicBezTo>
                    <a:pt x="15599" y="1245068"/>
                    <a:pt x="0" y="1207410"/>
                    <a:pt x="0" y="1168143"/>
                  </a:cubicBezTo>
                  <a:lnTo>
                    <a:pt x="0" y="148055"/>
                  </a:lnTo>
                  <a:cubicBezTo>
                    <a:pt x="0" y="108788"/>
                    <a:pt x="15599" y="71130"/>
                    <a:pt x="43364" y="43364"/>
                  </a:cubicBezTo>
                  <a:cubicBezTo>
                    <a:pt x="71130" y="15599"/>
                    <a:pt x="108788" y="0"/>
                    <a:pt x="148055" y="0"/>
                  </a:cubicBezTo>
                  <a:close/>
                </a:path>
              </a:pathLst>
            </a:custGeom>
            <a:solidFill>
              <a:srgbClr val="1A1F4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42875"/>
              <a:ext cx="702376" cy="1459073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7000"/>
                </a:lnSpc>
              </a:pPr>
              <a:r>
                <a:rPr lang="en-US" sz="5000" b="1">
                  <a:solidFill>
                    <a:srgbClr val="F1F1F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1.46m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1F1F1"/>
                  </a:solidFill>
                  <a:latin typeface="Poppins"/>
                  <a:ea typeface="Poppins"/>
                  <a:cs typeface="Poppins"/>
                  <a:sym typeface="Poppins"/>
                </a:rPr>
                <a:t>average global sales between 2008-2018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47954" y="1278519"/>
            <a:ext cx="14592093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0"/>
              </a:lnSpc>
            </a:pPr>
            <a:r>
              <a:rPr lang="en-US" sz="5000" b="1">
                <a:solidFill>
                  <a:srgbClr val="1A1F41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IS ADVENTURE AN EXHAUSTED OPTION? NO!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7739751" y="4187299"/>
            <a:ext cx="2666833" cy="3676595"/>
            <a:chOff x="0" y="0"/>
            <a:chExt cx="702376" cy="9683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2376" cy="968321"/>
            </a:xfrm>
            <a:custGeom>
              <a:avLst/>
              <a:gdLst/>
              <a:ahLst/>
              <a:cxnLst/>
              <a:rect l="l" t="t" r="r" b="b"/>
              <a:pathLst>
                <a:path w="702376" h="968321">
                  <a:moveTo>
                    <a:pt x="148055" y="0"/>
                  </a:moveTo>
                  <a:lnTo>
                    <a:pt x="554321" y="0"/>
                  </a:lnTo>
                  <a:cubicBezTo>
                    <a:pt x="593588" y="0"/>
                    <a:pt x="631246" y="15599"/>
                    <a:pt x="659012" y="43364"/>
                  </a:cubicBezTo>
                  <a:cubicBezTo>
                    <a:pt x="686777" y="71130"/>
                    <a:pt x="702376" y="108788"/>
                    <a:pt x="702376" y="148055"/>
                  </a:cubicBezTo>
                  <a:lnTo>
                    <a:pt x="702376" y="820267"/>
                  </a:lnTo>
                  <a:cubicBezTo>
                    <a:pt x="702376" y="859533"/>
                    <a:pt x="686777" y="897191"/>
                    <a:pt x="659012" y="924957"/>
                  </a:cubicBezTo>
                  <a:cubicBezTo>
                    <a:pt x="631246" y="952723"/>
                    <a:pt x="593588" y="968321"/>
                    <a:pt x="554321" y="968321"/>
                  </a:cubicBezTo>
                  <a:lnTo>
                    <a:pt x="148055" y="968321"/>
                  </a:lnTo>
                  <a:cubicBezTo>
                    <a:pt x="108788" y="968321"/>
                    <a:pt x="71130" y="952723"/>
                    <a:pt x="43364" y="924957"/>
                  </a:cubicBezTo>
                  <a:cubicBezTo>
                    <a:pt x="15599" y="897191"/>
                    <a:pt x="0" y="859533"/>
                    <a:pt x="0" y="820267"/>
                  </a:cubicBezTo>
                  <a:lnTo>
                    <a:pt x="0" y="148055"/>
                  </a:lnTo>
                  <a:cubicBezTo>
                    <a:pt x="0" y="108788"/>
                    <a:pt x="15599" y="71130"/>
                    <a:pt x="43364" y="43364"/>
                  </a:cubicBezTo>
                  <a:cubicBezTo>
                    <a:pt x="71130" y="15599"/>
                    <a:pt x="108788" y="0"/>
                    <a:pt x="148055" y="0"/>
                  </a:cubicBez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42875"/>
              <a:ext cx="702376" cy="111119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7000"/>
                </a:lnSpc>
              </a:pPr>
              <a:r>
                <a:rPr lang="en-US" sz="5000" b="1">
                  <a:solidFill>
                    <a:srgbClr val="1A1F4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1.04m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average global sales between 2008-2018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169799" y="4156220"/>
            <a:ext cx="2713452" cy="2377885"/>
            <a:chOff x="0" y="0"/>
            <a:chExt cx="714654" cy="6262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14654" cy="626274"/>
            </a:xfrm>
            <a:custGeom>
              <a:avLst/>
              <a:gdLst/>
              <a:ahLst/>
              <a:cxnLst/>
              <a:rect l="l" t="t" r="r" b="b"/>
              <a:pathLst>
                <a:path w="714654" h="626274">
                  <a:moveTo>
                    <a:pt x="145511" y="0"/>
                  </a:moveTo>
                  <a:lnTo>
                    <a:pt x="569143" y="0"/>
                  </a:lnTo>
                  <a:cubicBezTo>
                    <a:pt x="649506" y="0"/>
                    <a:pt x="714654" y="65148"/>
                    <a:pt x="714654" y="145511"/>
                  </a:cubicBezTo>
                  <a:lnTo>
                    <a:pt x="714654" y="480763"/>
                  </a:lnTo>
                  <a:cubicBezTo>
                    <a:pt x="714654" y="561127"/>
                    <a:pt x="649506" y="626274"/>
                    <a:pt x="569143" y="626274"/>
                  </a:cubicBezTo>
                  <a:lnTo>
                    <a:pt x="145511" y="626274"/>
                  </a:lnTo>
                  <a:cubicBezTo>
                    <a:pt x="65148" y="626274"/>
                    <a:pt x="0" y="561127"/>
                    <a:pt x="0" y="480763"/>
                  </a:cubicBezTo>
                  <a:lnTo>
                    <a:pt x="0" y="145511"/>
                  </a:lnTo>
                  <a:cubicBezTo>
                    <a:pt x="0" y="65148"/>
                    <a:pt x="65148" y="0"/>
                    <a:pt x="145511" y="0"/>
                  </a:cubicBez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42875"/>
              <a:ext cx="714654" cy="769149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ctr">
                <a:lnSpc>
                  <a:spcPts val="7000"/>
                </a:lnSpc>
              </a:pPr>
              <a:r>
                <a:rPr lang="en-US" sz="5000" b="1">
                  <a:solidFill>
                    <a:srgbClr val="1A1F4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0.8m</a:t>
              </a:r>
            </a:p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1A1F41"/>
                  </a:solidFill>
                  <a:latin typeface="Poppins"/>
                  <a:ea typeface="Poppins"/>
                  <a:cs typeface="Poppins"/>
                  <a:sym typeface="Poppins"/>
                </a:rPr>
                <a:t>average global sales between 2008-2018</a:t>
              </a:r>
            </a:p>
          </p:txBody>
        </p:sp>
      </p:grpSp>
      <p:sp>
        <p:nvSpPr>
          <p:cNvPr id="12" name="Freeform 12"/>
          <p:cNvSpPr/>
          <p:nvPr/>
        </p:nvSpPr>
        <p:spPr>
          <a:xfrm rot="1041331">
            <a:off x="-1126634" y="565567"/>
            <a:ext cx="3820236" cy="2695003"/>
          </a:xfrm>
          <a:custGeom>
            <a:avLst/>
            <a:gdLst/>
            <a:ahLst/>
            <a:cxnLst/>
            <a:rect l="l" t="t" r="r" b="b"/>
            <a:pathLst>
              <a:path w="3820236" h="2695003">
                <a:moveTo>
                  <a:pt x="0" y="0"/>
                </a:moveTo>
                <a:lnTo>
                  <a:pt x="3820236" y="0"/>
                </a:lnTo>
                <a:lnTo>
                  <a:pt x="3820236" y="2695003"/>
                </a:lnTo>
                <a:lnTo>
                  <a:pt x="0" y="26950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Freeform 13"/>
          <p:cNvSpPr/>
          <p:nvPr/>
        </p:nvSpPr>
        <p:spPr>
          <a:xfrm>
            <a:off x="16217484" y="-1252375"/>
            <a:ext cx="5497139" cy="5497139"/>
          </a:xfrm>
          <a:custGeom>
            <a:avLst/>
            <a:gdLst/>
            <a:ahLst/>
            <a:cxnLst/>
            <a:rect l="l" t="t" r="r" b="b"/>
            <a:pathLst>
              <a:path w="5497139" h="5497139">
                <a:moveTo>
                  <a:pt x="0" y="0"/>
                </a:moveTo>
                <a:lnTo>
                  <a:pt x="5497139" y="0"/>
                </a:lnTo>
                <a:lnTo>
                  <a:pt x="5497139" y="5497139"/>
                </a:lnTo>
                <a:lnTo>
                  <a:pt x="0" y="5497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>
            <a:off x="-4862775" y="5143500"/>
            <a:ext cx="5497139" cy="5497139"/>
          </a:xfrm>
          <a:custGeom>
            <a:avLst/>
            <a:gdLst/>
            <a:ahLst/>
            <a:cxnLst/>
            <a:rect l="l" t="t" r="r" b="b"/>
            <a:pathLst>
              <a:path w="5497139" h="5497139">
                <a:moveTo>
                  <a:pt x="0" y="0"/>
                </a:moveTo>
                <a:lnTo>
                  <a:pt x="5497139" y="0"/>
                </a:lnTo>
                <a:lnTo>
                  <a:pt x="5497139" y="5497139"/>
                </a:lnTo>
                <a:lnTo>
                  <a:pt x="0" y="54971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Freeform 15"/>
          <p:cNvSpPr/>
          <p:nvPr/>
        </p:nvSpPr>
        <p:spPr>
          <a:xfrm>
            <a:off x="15429164" y="6534105"/>
            <a:ext cx="2805310" cy="3951141"/>
          </a:xfrm>
          <a:custGeom>
            <a:avLst/>
            <a:gdLst/>
            <a:ahLst/>
            <a:cxnLst/>
            <a:rect l="l" t="t" r="r" b="b"/>
            <a:pathLst>
              <a:path w="2805310" h="3951141">
                <a:moveTo>
                  <a:pt x="0" y="0"/>
                </a:moveTo>
                <a:lnTo>
                  <a:pt x="2805310" y="0"/>
                </a:lnTo>
                <a:lnTo>
                  <a:pt x="2805310" y="3951141"/>
                </a:lnTo>
                <a:lnTo>
                  <a:pt x="0" y="39511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7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TextBox 16"/>
          <p:cNvSpPr txBox="1"/>
          <p:nvPr/>
        </p:nvSpPr>
        <p:spPr>
          <a:xfrm>
            <a:off x="3489271" y="3447165"/>
            <a:ext cx="1968193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1A1F41"/>
                </a:solidFill>
                <a:latin typeface="Poppins Bold"/>
                <a:ea typeface="Poppins Bold"/>
                <a:cs typeface="Poppins Bold"/>
                <a:sym typeface="Poppins Bold"/>
              </a:rPr>
              <a:t>Adventure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73947" y="3447165"/>
            <a:ext cx="1968193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1A1F41"/>
                </a:solidFill>
                <a:latin typeface="Poppins Bold"/>
                <a:ea typeface="Poppins Bold"/>
                <a:cs typeface="Poppins Bold"/>
                <a:sym typeface="Poppins Bold"/>
              </a:rPr>
              <a:t>Action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42429" y="3447165"/>
            <a:ext cx="1968193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1A1F41"/>
                </a:solidFill>
                <a:latin typeface="Poppins Bold"/>
                <a:ea typeface="Poppins Bold"/>
                <a:cs typeface="Poppins Bold"/>
                <a:sym typeface="Poppins Bold"/>
              </a:rPr>
              <a:t>Misc.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801116" y="2232305"/>
            <a:ext cx="10561452" cy="879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rPr>
              <a:t>Adventure games might have the most games, but they still continually perform well in comparison to the next highest genres.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230600" cy="3915664"/>
            <a:chOff x="0" y="0"/>
            <a:chExt cx="3093782" cy="7463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93782" cy="746381"/>
            </a:xfrm>
            <a:custGeom>
              <a:avLst/>
              <a:gdLst/>
              <a:ahLst/>
              <a:cxnLst/>
              <a:rect l="l" t="t" r="r" b="b"/>
              <a:pathLst>
                <a:path w="3093782" h="746381">
                  <a:moveTo>
                    <a:pt x="0" y="0"/>
                  </a:moveTo>
                  <a:lnTo>
                    <a:pt x="3093782" y="0"/>
                  </a:lnTo>
                  <a:lnTo>
                    <a:pt x="3093782" y="746381"/>
                  </a:lnTo>
                  <a:lnTo>
                    <a:pt x="0" y="746381"/>
                  </a:lnTo>
                  <a:close/>
                </a:path>
              </a:pathLst>
            </a:custGeom>
            <a:blipFill>
              <a:blip r:embed="rId2"/>
              <a:stretch>
                <a:fillRect t="-66061" b="-6606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Freeform 4"/>
          <p:cNvSpPr/>
          <p:nvPr/>
        </p:nvSpPr>
        <p:spPr>
          <a:xfrm rot="-646234">
            <a:off x="14850956" y="8227824"/>
            <a:ext cx="3820236" cy="2695003"/>
          </a:xfrm>
          <a:custGeom>
            <a:avLst/>
            <a:gdLst/>
            <a:ahLst/>
            <a:cxnLst/>
            <a:rect l="l" t="t" r="r" b="b"/>
            <a:pathLst>
              <a:path w="3820236" h="2695003">
                <a:moveTo>
                  <a:pt x="0" y="0"/>
                </a:moveTo>
                <a:lnTo>
                  <a:pt x="3820236" y="0"/>
                </a:lnTo>
                <a:lnTo>
                  <a:pt x="3820236" y="2695003"/>
                </a:lnTo>
                <a:lnTo>
                  <a:pt x="0" y="26950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 rot="1041331">
            <a:off x="-633291" y="5305134"/>
            <a:ext cx="2710700" cy="1912276"/>
          </a:xfrm>
          <a:custGeom>
            <a:avLst/>
            <a:gdLst/>
            <a:ahLst/>
            <a:cxnLst/>
            <a:rect l="l" t="t" r="r" b="b"/>
            <a:pathLst>
              <a:path w="2710700" h="1912276">
                <a:moveTo>
                  <a:pt x="0" y="0"/>
                </a:moveTo>
                <a:lnTo>
                  <a:pt x="2710700" y="0"/>
                </a:lnTo>
                <a:lnTo>
                  <a:pt x="2710700" y="1912275"/>
                </a:lnTo>
                <a:lnTo>
                  <a:pt x="0" y="19122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5215297" y="5315116"/>
            <a:ext cx="7857407" cy="146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0"/>
              </a:lnSpc>
              <a:spcBef>
                <a:spcPct val="0"/>
              </a:spcBef>
            </a:pPr>
            <a:r>
              <a:rPr lang="en-US" sz="5000" b="1">
                <a:solidFill>
                  <a:srgbClr val="1A1F41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AFTER ALL, ISN’T FINDING A NEW ADVENTURE WHAT GAMES ARE ABOUT?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10041" y="6994691"/>
            <a:ext cx="12067918" cy="1331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  <a:spcBef>
                <a:spcPct val="0"/>
              </a:spcBef>
            </a:pPr>
            <a:r>
              <a:rPr lang="en-US" sz="2507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rPr>
              <a:t>Games allow consumers to whisk away from the constraints of reality - whether that’s home life, studying or work stress. It gives them a chance to explore new worlds all from the freedom of their favourite comfortable seat.</a:t>
            </a:r>
          </a:p>
        </p:txBody>
      </p:sp>
      <p:sp>
        <p:nvSpPr>
          <p:cNvPr id="8" name="Freeform 8"/>
          <p:cNvSpPr/>
          <p:nvPr/>
        </p:nvSpPr>
        <p:spPr>
          <a:xfrm>
            <a:off x="722059" y="9070975"/>
            <a:ext cx="5578495" cy="5578495"/>
          </a:xfrm>
          <a:custGeom>
            <a:avLst/>
            <a:gdLst/>
            <a:ahLst/>
            <a:cxnLst/>
            <a:rect l="l" t="t" r="r" b="b"/>
            <a:pathLst>
              <a:path w="5578495" h="5578495">
                <a:moveTo>
                  <a:pt x="0" y="0"/>
                </a:moveTo>
                <a:lnTo>
                  <a:pt x="5578495" y="0"/>
                </a:lnTo>
                <a:lnTo>
                  <a:pt x="5578495" y="5578495"/>
                </a:lnTo>
                <a:lnTo>
                  <a:pt x="0" y="55784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77007">
            <a:off x="508316" y="8233619"/>
            <a:ext cx="2703694" cy="1907333"/>
          </a:xfrm>
          <a:custGeom>
            <a:avLst/>
            <a:gdLst/>
            <a:ahLst/>
            <a:cxnLst/>
            <a:rect l="l" t="t" r="r" b="b"/>
            <a:pathLst>
              <a:path w="2703694" h="1907333">
                <a:moveTo>
                  <a:pt x="0" y="0"/>
                </a:moveTo>
                <a:lnTo>
                  <a:pt x="2703694" y="0"/>
                </a:lnTo>
                <a:lnTo>
                  <a:pt x="2703694" y="1907334"/>
                </a:lnTo>
                <a:lnTo>
                  <a:pt x="0" y="19073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8155420" y="9556634"/>
            <a:ext cx="3322868" cy="3322868"/>
          </a:xfrm>
          <a:custGeom>
            <a:avLst/>
            <a:gdLst/>
            <a:ahLst/>
            <a:cxnLst/>
            <a:rect l="l" t="t" r="r" b="b"/>
            <a:pathLst>
              <a:path w="3322868" h="3322868">
                <a:moveTo>
                  <a:pt x="0" y="0"/>
                </a:moveTo>
                <a:lnTo>
                  <a:pt x="3322868" y="0"/>
                </a:lnTo>
                <a:lnTo>
                  <a:pt x="3322868" y="3322868"/>
                </a:lnTo>
                <a:lnTo>
                  <a:pt x="0" y="3322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597866" y="-2575599"/>
            <a:ext cx="3322868" cy="3322868"/>
          </a:xfrm>
          <a:custGeom>
            <a:avLst/>
            <a:gdLst/>
            <a:ahLst/>
            <a:cxnLst/>
            <a:rect l="l" t="t" r="r" b="b"/>
            <a:pathLst>
              <a:path w="3322868" h="3322868">
                <a:moveTo>
                  <a:pt x="0" y="0"/>
                </a:moveTo>
                <a:lnTo>
                  <a:pt x="3322868" y="0"/>
                </a:lnTo>
                <a:lnTo>
                  <a:pt x="3322868" y="3322868"/>
                </a:lnTo>
                <a:lnTo>
                  <a:pt x="0" y="33228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4214933" y="2807943"/>
            <a:ext cx="3755247" cy="375524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F4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 b="1">
                  <a:solidFill>
                    <a:srgbClr val="F1F1F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Upcoming technology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92072" y="2807943"/>
            <a:ext cx="3755247" cy="375524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A1F4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 b="1">
                  <a:solidFill>
                    <a:srgbClr val="F1F1F1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Adventurous story-telling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47954" y="1278519"/>
            <a:ext cx="14592093" cy="736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0"/>
              </a:lnSpc>
            </a:pPr>
            <a:r>
              <a:rPr lang="en-US" sz="5000" b="1">
                <a:solidFill>
                  <a:srgbClr val="1A1F41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OUR FOCUS SHOULD ALWAYS BE THE HORIZON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29693" y="6722549"/>
            <a:ext cx="4125727" cy="142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2"/>
              </a:lnSpc>
              <a:spcBef>
                <a:spcPct val="0"/>
              </a:spcBef>
            </a:pPr>
            <a:r>
              <a:rPr lang="en-US" sz="2701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rPr>
              <a:t>Research new technology &amp; consoles for game development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39653" y="6722549"/>
            <a:ext cx="4125727" cy="1428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2"/>
              </a:lnSpc>
              <a:spcBef>
                <a:spcPct val="0"/>
              </a:spcBef>
            </a:pPr>
            <a:r>
              <a:rPr lang="en-US" sz="2701">
                <a:solidFill>
                  <a:srgbClr val="1A1F41"/>
                </a:solidFill>
                <a:latin typeface="Poppins"/>
                <a:ea typeface="Poppins"/>
                <a:cs typeface="Poppins"/>
                <a:sym typeface="Poppins"/>
              </a:rPr>
              <a:t>Developing new games that take customers on an adventure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161100"/>
            <a:ext cx="10508641" cy="438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99"/>
              </a:lnSpc>
            </a:pPr>
            <a:r>
              <a:rPr lang="en-US" sz="9999" b="1">
                <a:solidFill>
                  <a:srgbClr val="1A1F41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LET’S MAKE GAMES</a:t>
            </a:r>
          </a:p>
          <a:p>
            <a:pPr marL="0" lvl="0" indent="0" algn="l">
              <a:lnSpc>
                <a:spcPts val="11499"/>
              </a:lnSpc>
              <a:spcBef>
                <a:spcPct val="0"/>
              </a:spcBef>
            </a:pPr>
            <a:r>
              <a:rPr lang="en-US" sz="9999" b="1">
                <a:solidFill>
                  <a:srgbClr val="1A1F41"/>
                </a:solidFill>
                <a:latin typeface="Big Shoulders Display Bold"/>
                <a:ea typeface="Big Shoulders Display Bold"/>
                <a:cs typeface="Big Shoulders Display Bold"/>
                <a:sym typeface="Big Shoulders Display Bold"/>
              </a:rPr>
              <a:t>AN UNFORGETTABLE ADVENTURE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975921" y="0"/>
            <a:ext cx="7312079" cy="10297336"/>
            <a:chOff x="0" y="0"/>
            <a:chExt cx="1777487" cy="25031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77487" cy="2503170"/>
            </a:xfrm>
            <a:custGeom>
              <a:avLst/>
              <a:gdLst/>
              <a:ahLst/>
              <a:cxnLst/>
              <a:rect l="l" t="t" r="r" b="b"/>
              <a:pathLst>
                <a:path w="1777487" h="2503170">
                  <a:moveTo>
                    <a:pt x="0" y="0"/>
                  </a:moveTo>
                  <a:lnTo>
                    <a:pt x="1777487" y="0"/>
                  </a:lnTo>
                  <a:lnTo>
                    <a:pt x="1777487" y="2503170"/>
                  </a:lnTo>
                  <a:lnTo>
                    <a:pt x="0" y="2503170"/>
                  </a:lnTo>
                  <a:close/>
                </a:path>
              </a:pathLst>
            </a:custGeom>
            <a:blipFill>
              <a:blip r:embed="rId2"/>
              <a:stretch>
                <a:fillRect t="-3390" b="-3390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Freeform 5"/>
          <p:cNvSpPr/>
          <p:nvPr/>
        </p:nvSpPr>
        <p:spPr>
          <a:xfrm rot="-549419">
            <a:off x="7555986" y="7527231"/>
            <a:ext cx="2465303" cy="1739159"/>
          </a:xfrm>
          <a:custGeom>
            <a:avLst/>
            <a:gdLst/>
            <a:ahLst/>
            <a:cxnLst/>
            <a:rect l="l" t="t" r="r" b="b"/>
            <a:pathLst>
              <a:path w="2465303" h="1739159">
                <a:moveTo>
                  <a:pt x="0" y="0"/>
                </a:moveTo>
                <a:lnTo>
                  <a:pt x="2465303" y="0"/>
                </a:lnTo>
                <a:lnTo>
                  <a:pt x="2465303" y="1739159"/>
                </a:lnTo>
                <a:lnTo>
                  <a:pt x="0" y="17391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Freeform 6"/>
          <p:cNvSpPr/>
          <p:nvPr/>
        </p:nvSpPr>
        <p:spPr>
          <a:xfrm>
            <a:off x="12276263" y="9451472"/>
            <a:ext cx="5578495" cy="5578495"/>
          </a:xfrm>
          <a:custGeom>
            <a:avLst/>
            <a:gdLst/>
            <a:ahLst/>
            <a:cxnLst/>
            <a:rect l="l" t="t" r="r" b="b"/>
            <a:pathLst>
              <a:path w="5578495" h="5578495">
                <a:moveTo>
                  <a:pt x="0" y="0"/>
                </a:moveTo>
                <a:lnTo>
                  <a:pt x="5578495" y="0"/>
                </a:lnTo>
                <a:lnTo>
                  <a:pt x="5578495" y="5578495"/>
                </a:lnTo>
                <a:lnTo>
                  <a:pt x="0" y="55784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461</Words>
  <Application>Microsoft Office PowerPoint</Application>
  <PresentationFormat>Custom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Big Shoulders Display Bold</vt:lpstr>
      <vt:lpstr>Arial</vt:lpstr>
      <vt:lpstr>Poppins Bold</vt:lpstr>
      <vt:lpstr>Canva Sans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Growing Video Game Sales</dc:title>
  <cp:lastModifiedBy>Vanessa Littler</cp:lastModifiedBy>
  <cp:revision>1</cp:revision>
  <dcterms:created xsi:type="dcterms:W3CDTF">2006-08-16T00:00:00Z</dcterms:created>
  <dcterms:modified xsi:type="dcterms:W3CDTF">2026-10-12T12:01:10Z</dcterms:modified>
  <dc:identifier>DAHXbJvhN2Q</dc:identifier>
</cp:coreProperties>
</file>